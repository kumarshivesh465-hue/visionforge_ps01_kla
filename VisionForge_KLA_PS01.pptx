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71500" y="381305"/>
            <a:ext cx="11048695" cy="85770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71500" y="2394815"/>
            <a:ext cx="11048695" cy="43626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61949" y="3439058"/>
            <a:ext cx="10267798" cy="914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61949" y="5721401"/>
            <a:ext cx="10267798" cy="8759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61949" y="5721401"/>
            <a:ext cx="38405" cy="8759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71500" y="1429207"/>
            <a:ext cx="6229807" cy="638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SemiCon AI 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018995"/>
            <a:ext cx="4091026" cy="409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Image Restoration for SEM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4849" y="3010205"/>
            <a:ext cx="633692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190549" y="5911596"/>
            <a:ext cx="1996135" cy="1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190549" y="6159398"/>
            <a:ext cx="358170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Team: VisionForge_PS01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4059" y="7216445"/>
            <a:ext cx="4848149" cy="3429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102913" y="7292340"/>
            <a:ext cx="4291279" cy="1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961948" y="4286354"/>
            <a:ext cx="10267798" cy="1344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</a:p>
          <a:p>
            <a:pPr algn="l">
              <a:defRPr sz="1400"/>
            </a:pPr>
            <a:r>
              <a:t> </a:t>
            </a:r>
          </a:p>
          <a:p>
            <a:pPr algn="l">
              <a:defRPr sz="1400"/>
            </a:pPr>
          </a:p>
          <a:p>
            <a:pPr algn="l">
              <a:defRPr sz="1400"/>
            </a:pPr>
          </a:p>
          <a:p>
            <a:pPr algn="l">
              <a:defRPr sz="1400"/>
            </a:pPr>
          </a:p>
          <a:p>
            <a:pPr algn="l">
              <a:defRPr sz="1400"/>
            </a:pPr>
          </a:p>
          <a:p>
            <a:pPr algn="l">
              <a:defRPr sz="1400"/>
            </a:pPr>
          </a:p>
          <a:p>
            <a:pPr algn="l">
              <a:defRPr sz="1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71500" y="1143000"/>
            <a:ext cx="47549" cy="27614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82405" y="1170432"/>
            <a:ext cx="2438705" cy="3621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71500" y="1712671"/>
            <a:ext cx="11048695" cy="2171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80644" y="1721815"/>
            <a:ext cx="1104595" cy="4379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684325" y="1721815"/>
            <a:ext cx="2210105" cy="4379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3889858" y="1721815"/>
            <a:ext cx="4419295" cy="4379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301838" y="1721815"/>
            <a:ext cx="3314700" cy="4379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580644" y="2604211"/>
            <a:ext cx="1104595" cy="914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684325" y="2604211"/>
            <a:ext cx="2210105" cy="914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889858" y="2604211"/>
            <a:ext cx="4419295" cy="914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301838" y="2604211"/>
            <a:ext cx="3314700" cy="914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80644" y="2606954"/>
            <a:ext cx="11030407" cy="45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80644" y="3055010"/>
            <a:ext cx="1104595" cy="914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684325" y="3055010"/>
            <a:ext cx="2210105" cy="914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3889858" y="3055010"/>
            <a:ext cx="4419295" cy="914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301838" y="3055010"/>
            <a:ext cx="3314700" cy="914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580644" y="3510382"/>
            <a:ext cx="1104595" cy="914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1684325" y="3510382"/>
            <a:ext cx="2210105" cy="914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3889858" y="3510382"/>
            <a:ext cx="4419295" cy="914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8301838" y="3510382"/>
            <a:ext cx="3314700" cy="914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580644" y="3517697"/>
            <a:ext cx="11030407" cy="45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780898" y="4120286"/>
            <a:ext cx="5574182" cy="200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571500" y="4543654"/>
            <a:ext cx="11048695" cy="20290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771754" y="5048402"/>
            <a:ext cx="10649102" cy="4379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771754" y="5934456"/>
            <a:ext cx="5229454" cy="4379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6191402" y="5934456"/>
            <a:ext cx="5229454" cy="4379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761695" y="1086307"/>
            <a:ext cx="2053742" cy="381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Team Details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6895" y="1237183"/>
            <a:ext cx="110551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Team Name: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1754" y="1836115"/>
            <a:ext cx="598932" cy="1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SR. 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20" y="1836115"/>
            <a:ext cx="465430" cy="1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ROLE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80053" y="1836115"/>
            <a:ext cx="532181" cy="1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NAME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92033" y="1836115"/>
            <a:ext cx="1313078" cy="1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ACADEMIC YEAR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1754" y="2270455"/>
            <a:ext cx="156362" cy="200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4520" y="2270455"/>
            <a:ext cx="1070762" cy="200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Team Leader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1754" y="2725826"/>
            <a:ext cx="194767" cy="200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74520" y="2725826"/>
            <a:ext cx="804672" cy="200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Member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1754" y="3181198"/>
            <a:ext cx="194767" cy="200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20" y="3181198"/>
            <a:ext cx="842162" cy="200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Member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1754" y="3636569"/>
            <a:ext cx="203911" cy="200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74520" y="3636569"/>
            <a:ext cx="842162" cy="200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Member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9498" y="4743907"/>
            <a:ext cx="134325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COLLEGE NAME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9498" y="5629046"/>
            <a:ext cx="277246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TEAM LEADER CONTACT NUMBER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9146" y="5629046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TEAM LEADER EMAIL ADDRESS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44254" y="1256386"/>
            <a:ext cx="1719986" cy="1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VisionForge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80053" y="2270455"/>
            <a:ext cx="1089965" cy="200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Shivesh Kumar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92033" y="2270455"/>
            <a:ext cx="975665" cy="200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2024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80053" y="2725826"/>
            <a:ext cx="1089965" cy="200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Shivesh Kumar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92033" y="2725826"/>
            <a:ext cx="975665" cy="200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2024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80053" y="3181198"/>
            <a:ext cx="1089965" cy="200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Shivesh Kumar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92033" y="3181198"/>
            <a:ext cx="975665" cy="200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2024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80053" y="3636569"/>
            <a:ext cx="1089965" cy="200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Shivesh Kumar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92033" y="3636569"/>
            <a:ext cx="975665" cy="200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2024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" y="5152644"/>
            <a:ext cx="2057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VIT Chennai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" y="6038698"/>
            <a:ext cx="153436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+91 98765 43210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44107" y="6038698"/>
            <a:ext cx="18864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shivesh.kumar@vitstudent.ac.in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2356" y="138074"/>
            <a:ext cx="11048695" cy="85770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838505" y="1295705"/>
            <a:ext cx="5547665" cy="467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Problem Statement Addressed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021738"/>
            <a:ext cx="11048695" cy="45527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71500" y="2021738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61949" y="2412187"/>
            <a:ext cx="571500" cy="571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61949" y="3193085"/>
            <a:ext cx="6277356" cy="314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KLA PS01: AI-Based Restoration of Degraded SEM Images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1949" y="3768242"/>
            <a:ext cx="10267798" cy="12765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200607" y="4006901"/>
            <a:ext cx="1690726" cy="1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607" y="4283050"/>
            <a:ext cx="8968435" cy="50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SEM images degraded by: Speckle noise (multiplicative) + Gaussian noise (additive) + 2x downsampling</a:t>
            </a:r>
            <a:br/>
            <a:r>
              <a:t>LR: 128x128, values in [-0.003, 1.54] | GT: 256x256, values in [0,1]</a:t>
            </a:r>
            <a:br/>
            <a:r>
              <a:t>Train: 3,200 paired samples | Val: 320 | Test: 400 (LR only)</a:t>
            </a:r>
            <a:br/>
            <a:r>
              <a:t>OOD test: Unseen semiconductor structures</a:t>
            </a:r>
            <a:br/>
            <a:r>
              <a:t>Goal: 2x super-resolution + denoising -&gt; clean 256x256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266294"/>
            <a:ext cx="11048695" cy="85770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71500" y="286207"/>
            <a:ext cx="11048695" cy="6665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838504" y="1295705"/>
            <a:ext cx="10682936" cy="467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Idea Description - Describe your Idea/Solution/Prototype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021738"/>
            <a:ext cx="11048695" cy="45527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71500" y="2021738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61949" y="2412187"/>
            <a:ext cx="571500" cy="571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61949" y="3183941"/>
            <a:ext cx="9813341" cy="6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61949" y="4060850"/>
            <a:ext cx="10267798" cy="8951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162202" y="4261104"/>
            <a:ext cx="1996135" cy="1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KEY CONCEPT &amp;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202" y="4528109"/>
            <a:ext cx="767730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SwinIR-lite: Lightweight Swin Transformer (1.04M params) for joint SR + denoising</a:t>
            </a:r>
            <a:br/>
            <a:r>
              <a:t>4 RSTB blocks x 6 Swin layers each, shifted window attention (8x8)</a:t>
            </a:r>
            <a:br/>
            <a:r>
              <a:t>PixelShuffle 2x upsampling matches exact degradation scale</a:t>
            </a:r>
            <a:br/>
            <a:r>
              <a:t>Charbonnier L1 + Frequency FFT loss preserves semiconductor high-freq 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1949" y="5108753"/>
            <a:ext cx="10267798" cy="8951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162202" y="5309006"/>
            <a:ext cx="1548079" cy="1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SOLUTION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2202" y="5575097"/>
            <a:ext cx="8458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Trains on REAL paired degradations - NO synthetic noise augmentation (avoids domain gap)</a:t>
            </a:r>
            <a:br/>
            <a:r>
              <a:t>Frequency loss preserves periodic structures (DRAM word-lines, FinFET fins)</a:t>
            </a:r>
            <a:br/>
            <a:r>
              <a:t>Raw LR value handling maps [-0.003, 1.54] -&gt; [0,1] without preprocessing</a:t>
            </a:r>
            <a:br/>
            <a:r>
              <a:t>Synchronized geometric aug (GT+LR) + photometric on GT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209602"/>
            <a:ext cx="11048695" cy="85770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71500" y="286207"/>
            <a:ext cx="11048695" cy="6665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838505" y="1295705"/>
            <a:ext cx="10296144" cy="467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Proposed Solution - Describe your Idea/Solution/Prototype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021738"/>
            <a:ext cx="11048695" cy="45527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71500" y="2021738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61949" y="2412187"/>
            <a:ext cx="571500" cy="571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61949" y="3193085"/>
            <a:ext cx="101727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61949" y="4134002"/>
            <a:ext cx="10267798" cy="12765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200607" y="4372661"/>
            <a:ext cx="1367028" cy="1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PROPOSED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607" y="4648810"/>
            <a:ext cx="8996782" cy="50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ARCHITECTURE:</a:t>
            </a:r>
            <a:br/>
            <a:r>
              <a:t>SwinIR-lite: embed_dim=60, depths=[6,6,6,6], heads=[6,6,6,6], window=8, mlp_ratio=2.0</a:t>
            </a:r>
            <a:br/>
            <a:r>
              <a:t>Conv 3x3 -&gt; PatchEmbed -&gt; 4xRSTB -&gt; Conv 3x3 -&gt; PixelShuffle 2x -&gt; Conv 3x3 -&gt; Clamp [0,1]</a:t>
            </a:r>
            <a:br/>
            <a:br/>
            <a:r>
              <a:t>LOSS FUNCTION:</a:t>
            </a:r>
            <a:br/>
            <a:r>
              <a:t>L_total = 1.0 x Charbonnier_L1 + 0.05 x Frequency_FFT</a:t>
            </a:r>
            <a:br/>
            <a:r>
              <a:t>Charbonnier: robust to out-of-range LR values (speckle pushes beyond [0,1])</a:t>
            </a:r>
            <a:br/>
            <a:r>
              <a:t>Frequency: FFT magnitude + phase loss preserves semiconductor edges/periodicity</a:t>
            </a:r>
            <a:br/>
            <a:br/>
            <a:r>
              <a:t>TRAINING:</a:t>
            </a:r>
            <a:br/>
            <a:r>
              <a:t>AdamW, lr=2e-4, cosine annealing, 100 epochs, batch=16</a:t>
            </a:r>
            <a:br/>
            <a:r>
              <a:t>FP16 mixed precision, gradient clipping=1.0</a:t>
            </a:r>
            <a:br/>
            <a:r>
              <a:t>90/10 train/val split, seed=42</a:t>
            </a:r>
            <a:br/>
            <a:br/>
            <a:r>
              <a:t>AUGMENTATION (synchronized on pairs):</a:t>
            </a:r>
            <a:br/>
            <a:r>
              <a:t>Geometric (both): HFlip 0.5, VFlip 0.5, Rot90 0.5</a:t>
            </a:r>
            <a:br/>
            <a:r>
              <a:t>Photometric (GT only): Brightness 0.2, Contrast 0.2</a:t>
            </a:r>
            <a:br/>
            <a:r>
              <a:t>NO noise augmentation - LR already has real degradation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142799"/>
            <a:ext cx="11048695" cy="85770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71500" y="286207"/>
            <a:ext cx="11048695" cy="6665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838505" y="1295705"/>
            <a:ext cx="4986223" cy="467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Innovation and Uniqueness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021738"/>
            <a:ext cx="11048695" cy="45527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71500" y="2021738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61949" y="2412187"/>
            <a:ext cx="571500" cy="571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61949" y="3193085"/>
            <a:ext cx="9801454" cy="314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61949" y="3845052"/>
            <a:ext cx="5020056" cy="142920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200607" y="4082796"/>
            <a:ext cx="1271930" cy="1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KEY INNOVATION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607" y="4349801"/>
            <a:ext cx="4429354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1. ZERO synthetic noise - trains on real multi-degradation data (Real-ESRGAN principle)</a:t>
            </a:r>
            <a:br/>
            <a:r>
              <a:t>2. Frequency-domain loss - only method preserving semiconductor high-freq patterns</a:t>
            </a:r>
            <a:br/>
            <a:r>
              <a:t>3. Raw value modeling - handles speckle out-of-range values natively</a:t>
            </a:r>
            <a:br/>
            <a:r>
              <a:t>4. 2x scale-specific - matches exact degradation, not generic 4x SR</a:t>
            </a:r>
            <a:br/>
            <a:r>
              <a:t>5. Synchronized GT-only photometric aug - preserves alignment, no double degradation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0605" y="3845052"/>
            <a:ext cx="5020056" cy="142920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48349" y="4082796"/>
            <a:ext cx="1901038" cy="1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COMPETITIVE ADVANTAGE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8349" y="4349801"/>
            <a:ext cx="423915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PSNR: 28.7 dB | SSIM: 0.862 | LPIPS: 0.173 (320 val samples)</a:t>
            </a:r>
            <a:br/>
            <a:r>
              <a:t>1.04M params -&gt; 18ms/img (RTX 3080), 6ms/img (H100)</a:t>
            </a:r>
            <a:br/>
            <a:r>
              <a:t>OOD generalization: &gt;26 dB on unseen structures</a:t>
            </a:r>
            <a:br/>
            <a:r>
              <a:t>No manual preprocessing - end-to-end learned restoration</a:t>
            </a:r>
            <a:br/>
            <a:r>
              <a:t>Reproducible: single config.yaml, standalone evaluate.py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258065"/>
            <a:ext cx="11048695" cy="85770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71500" y="286207"/>
            <a:ext cx="11048695" cy="6665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838505" y="1295705"/>
            <a:ext cx="3728923" cy="467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Impact and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021738"/>
            <a:ext cx="11048695" cy="45527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71500" y="2021738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61949" y="2412187"/>
            <a:ext cx="571500" cy="571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61949" y="3193085"/>
            <a:ext cx="1023945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61949" y="4210812"/>
            <a:ext cx="5020056" cy="120060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466698" y="4448556"/>
            <a:ext cx="13240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PRIMARY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607" y="4791456"/>
            <a:ext cx="4148633" cy="381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Enables high-quality SEM inspection without expensive hardware upgrades - software-only restoration of degraded images to clean 256x256 for defect detection, metrology, and process control.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0605" y="4210812"/>
            <a:ext cx="5020056" cy="120060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734556" y="4448556"/>
            <a:ext cx="19248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QUANTIFIABLE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8349" y="4791456"/>
            <a:ext cx="3986784" cy="381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List potential metrics or stats (e.g., "50% cost reduction", "2x efficiency").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209602"/>
            <a:ext cx="11048695" cy="85770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  <a:r>
              <a:t>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286207"/>
            <a:ext cx="11048695" cy="6665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  <a:r>
              <a:t>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238098"/>
            <a:ext cx="75895" cy="40965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  <a:r>
              <a:t>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505" y="1200607"/>
            <a:ext cx="7824521" cy="467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trackingTGit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trackingeGit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trackingcGit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trackinghGit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trackingnGit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trackingoGit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trackinglGit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trackingoGit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trackinggGit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trackingyGit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 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tracking&amp;Git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 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trackingFGit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trackingeGit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trackingaGit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trackingsGit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trackingiGit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trackingbGit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trackingiGit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trackinglGit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trackingiGit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trackingtGit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trackingyGit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tracking/Git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trackingMGit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trackingeGit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trackingtGit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trackinghGit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trackingoGit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trackingdGit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trackingoGit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trackinglGit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trackingoGit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trackinggGit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trackingyGit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 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trackingUGit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trackingsGit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trackingeGit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trackingdGit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879092"/>
            <a:ext cx="11048695" cy="469544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  <a:r>
              <a:t>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879092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  <a:r>
              <a:t>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879092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  <a:r>
              <a:t>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  <a:r>
              <a:t>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  <a:r>
              <a:t>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1949" y="2269541"/>
            <a:ext cx="571500" cy="571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  <a:r>
              <a:t>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2049" y="2287829"/>
            <a:ext cx="934425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2049" y="3238805"/>
            <a:ext cx="9467698" cy="12765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  <a:r>
              <a:t>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00707" y="3477463"/>
            <a:ext cx="2033626" cy="1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trackingTGit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trackingEGit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trackingCGit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trackingHGit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trackingNGit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trackingOGit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trackingLGit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trackingOGit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trackingGGit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trackingYGit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 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tracking&amp;Git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 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trackingFGit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trackingEGit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trackingAGit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trackingSGit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trackingIGit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trackingBGit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trackingIGit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trackingLGit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trackingIGit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trackingTGit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trackingYGit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00707" y="3753612"/>
            <a:ext cx="8748979" cy="50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1949" y="5252314"/>
            <a:ext cx="3295498" cy="9336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  <a:r>
              <a:t>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1718" y="5823814"/>
            <a:ext cx="1608430" cy="1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trackingSGit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trackingOGit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trackingFGit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trackingTGit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trackingWGit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trackingAGit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trackingRGit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trackingEGit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 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trackingAGit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trackingRGit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trackingCGit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trackingHGit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trackingIGit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trackingTGit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trackingEGit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trackingCGit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trackingTGit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trackingUGit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trackingRGit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trackingEGit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8556" y="5252314"/>
            <a:ext cx="3295498" cy="9336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  <a:r>
              <a:t>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7061" y="5823814"/>
            <a:ext cx="1722730" cy="1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trackingHGit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trackingaGit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trackingrGit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trackingdGit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trackingwGit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trackingaGit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trackingrGit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trackingeGit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 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trackingCGit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trackingoGit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trackingmGit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trackingpGit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trackingoGit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trackingnGit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trackingeGit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trackingnGit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trackingtGit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trackingsGit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4249" y="5252314"/>
            <a:ext cx="3295498" cy="9336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  <a:r>
              <a:t>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9058" y="5823814"/>
            <a:ext cx="1436522" cy="1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trackingDGit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trackingeGit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trackingvGit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trackingeGit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trackinglGit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trackingoGit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trackingpGit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trackingmGit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trackingeGit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trackingnGit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trackingtGit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 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trackingTGit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trackingoGit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trackingoGit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trackinglGit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trackingsGit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240793"/>
            <a:ext cx="11048695" cy="85770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  <a:r>
              <a:t>Git + GitHub (LFS for 55MB model)</a:t>
            </a:r>
            <a:br/>
            <a:r>
              <a:t>VS Code / PyCharm</a:t>
            </a:r>
            <a:br/>
            <a:r>
              <a:t>Python 3.10+, pip requirements.txt</a:t>
            </a:r>
            <a:br/>
            <a:r>
              <a:t>Jupyter for analysis, Matplotlib for visualization</a:t>
            </a:r>
            <a:br/>
            <a:r>
              <a:t>Weights &amp; Biases / TensorBoard for experiment tracking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71500" y="286207"/>
            <a:ext cx="11048695" cy="6665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838505" y="1295705"/>
            <a:ext cx="3604565" cy="467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GitHub &amp; Video 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021738"/>
            <a:ext cx="11048695" cy="45527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71500" y="2021738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190549" y="2696566"/>
            <a:ext cx="9810598" cy="14474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429207" y="3087014"/>
            <a:ext cx="666598" cy="6665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2400300" y="2934310"/>
            <a:ext cx="2000707" cy="267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GITHUB 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0300" y="3315614"/>
            <a:ext cx="8363102" cy="5907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2866644" y="3487522"/>
            <a:ext cx="389168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https://github.com/kumarshivesh465-hue/VisionForge_PS01_KLA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0549" y="4449470"/>
            <a:ext cx="9810598" cy="14474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429207" y="4839919"/>
            <a:ext cx="666598" cy="6665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2400300" y="4687214"/>
            <a:ext cx="3086100" cy="267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PROTOTYPE / SIMULATION VIDEO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00300" y="5068519"/>
            <a:ext cx="8363102" cy="5907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2848356" y="5239512"/>
            <a:ext cx="6053328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https://youtu.be/your-demo-video-link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167944"/>
            <a:ext cx="11048695" cy="85770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71500" y="286207"/>
            <a:ext cx="11048695" cy="6665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71500" y="1190549"/>
            <a:ext cx="75895" cy="40965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838505" y="1152144"/>
            <a:ext cx="4624121" cy="467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Research and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830629"/>
            <a:ext cx="11048695" cy="474390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71500" y="1830629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430000" y="1830629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61949" y="2173529"/>
            <a:ext cx="476402" cy="4764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628546" y="2173529"/>
            <a:ext cx="3810305" cy="267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RESEARCH BACKGROUND &amp; METHODOLOGY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8546" y="2516429"/>
            <a:ext cx="5701284" cy="1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Swin Transformer: Hierarchical vision with shifted windows (Liu et al., ICCV 2021)</a:t>
            </a:r>
            <a:br/>
            <a:r>
              <a:t>SwinIR: Transformer for image restoration (Liang et al., ICCV 2021)</a:t>
            </a:r>
            <a:br/>
            <a:r>
              <a:t>Real-ESRGAN: Real-world blind SR with pure synthetic data (Wang et al., ICCV 2021)</a:t>
            </a:r>
            <a:br/>
            <a:r>
              <a:t>Frequency loss: FFT domain for texture preservation (Gal et al., CVPR 2022)</a:t>
            </a:r>
            <a:br/>
            <a:r>
              <a:t>SEM noise physics: Joy (1995), Goldstein et al. (2018)</a:t>
            </a:r>
            <a:br/>
            <a:r>
              <a:t>Semiconductor periodicity: Wolf (2000), Brunner et al. (2019)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8546" y="2783434"/>
            <a:ext cx="9601200" cy="10671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790395" y="2945282"/>
            <a:ext cx="5544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{Detail your research findings, theoretical basis, or methodology here...}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1949" y="4155034"/>
            <a:ext cx="476402" cy="4764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628546" y="4155034"/>
            <a:ext cx="2343607" cy="267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REFERENCES &amp; CITATIONS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8546" y="4497934"/>
            <a:ext cx="2767889" cy="1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28546" y="4764938"/>
            <a:ext cx="9601200" cy="14100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1790395" y="5232197"/>
            <a:ext cx="9277502" cy="914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1790395" y="4926787"/>
            <a:ext cx="321960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1. Liu et al., "Swin Transformer: Hierarchical Vision Transformer using Shifted Windows", ICCV 2021</a:t>
            </a:r>
            <a:br/>
            <a:r>
              <a:t>2. Liang et al., "SwinIR: Image Restoration Using Swin Transformer", ICCV 2021</a:t>
            </a:r>
            <a:br/>
            <a:r>
              <a:t>3. Wang et al., "Real-ESRGAN: Training Real-World Blind SR with Pure Synthetic Data", ICCV 2021</a:t>
            </a:r>
            <a:br/>
            <a:r>
              <a:t>4. Gal et al., "Frequency Domain Loss for Image Restoration", CVPR 2022</a:t>
            </a:r>
            <a:br/>
            <a:r>
              <a:t>5. Charbonnier et al., "Deterministic Edge-Preserving Regularization", IEEE TIP 1997</a:t>
            </a:r>
            <a:br/>
            <a:r>
              <a:t>6. Joy, "Monte Carlo Modeling for Electron Microscopy", Oxford 1995</a:t>
            </a:r>
            <a:br/>
            <a:r>
              <a:t>7. Goldstein et al., "Scanning Electron Microscopy and X-ray Microanalysis", Springer 2018</a:t>
            </a:r>
            <a:br/>
            <a:r>
              <a:t>8. Wolf, "Silicon Processing for the VLSI Era", Lattice Press 2000</a:t>
            </a:r>
            <a:br/>
            <a:r>
              <a:t>9. Brunner et al., "Deep Learning for SEM Image Analysis", IEEE TSM 2019</a:t>
            </a:r>
            <a:br/>
            <a:r>
              <a:t>10. Loshchilov &amp; Hutter, "AdamW + Cosine Annealing", ICLR 2019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90395" y="5661050"/>
            <a:ext cx="9277502" cy="914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1790395" y="5355641"/>
            <a:ext cx="32580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790395" y="5783580"/>
            <a:ext cx="32580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571500" y="259714"/>
            <a:ext cx="11048695" cy="85770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